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c8e1ff7e7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c8e1ff7e7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c8e1ff7e7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c8e1ff7e7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c8e1ff7e7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c8e1ff7e7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c8e1ff7e7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c8e1ff7e7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c8e1ff7e7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c8e1ff7e7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c8e1ff7e7_0_1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c8e1ff7e7_0_1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c8e1ff7e7_0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c8e1ff7e7_0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c8e1ff7e7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c8e1ff7e7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c8e1ff7e7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c8e1ff7e7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c8e1ff7e7_0_1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c8e1ff7e7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c8e1ff7e7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c8e1ff7e7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c8e1ff7e7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ac8e1ff7e7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c8e1ff7e7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c8e1ff7e7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c8e1ff7e7_0_1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ac8e1ff7e7_0_1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c8e1ff7e7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c8e1ff7e7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c8e1ff7e7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ac8e1ff7e7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dfc5b1f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adfc5b1f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420225" y="126075"/>
            <a:ext cx="46593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/>
              <a:t>TRABAJO_PRACTICO_datos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latin typeface="Nunito"/>
                <a:ea typeface="Nunito"/>
                <a:cs typeface="Nunito"/>
                <a:sym typeface="Nunito"/>
              </a:rPr>
              <a:t>Relación</a:t>
            </a:r>
            <a:r>
              <a:rPr lang="es-419" sz="2500">
                <a:latin typeface="Nunito"/>
                <a:ea typeface="Nunito"/>
                <a:cs typeface="Nunito"/>
                <a:sym typeface="Nunito"/>
              </a:rPr>
              <a:t> entre </a:t>
            </a:r>
            <a:r>
              <a:rPr lang="es-419" sz="2500">
                <a:latin typeface="Nunito"/>
                <a:ea typeface="Nunito"/>
                <a:cs typeface="Nunito"/>
                <a:sym typeface="Nunito"/>
              </a:rPr>
              <a:t>inflación</a:t>
            </a:r>
            <a:r>
              <a:rPr lang="es-419" sz="2500">
                <a:latin typeface="Nunito"/>
                <a:ea typeface="Nunito"/>
                <a:cs typeface="Nunito"/>
                <a:sym typeface="Nunito"/>
              </a:rPr>
              <a:t>, tasa de desempleo y crecimiento del pbi</a:t>
            </a:r>
            <a:endParaRPr sz="2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185275"/>
            <a:ext cx="42555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Profesor: </a:t>
            </a:r>
            <a:r>
              <a:rPr lang="es-419"/>
              <a:t>Nicolás</a:t>
            </a:r>
            <a:r>
              <a:rPr lang="es-419"/>
              <a:t> Sidicaro</a:t>
            </a:r>
            <a:br>
              <a:rPr lang="es-419"/>
            </a:br>
            <a:br>
              <a:rPr lang="es-419"/>
            </a:br>
            <a:r>
              <a:rPr lang="es-419"/>
              <a:t>Alumnos: </a:t>
            </a:r>
            <a:r>
              <a:rPr lang="es-419"/>
              <a:t>Andrés</a:t>
            </a:r>
            <a:r>
              <a:rPr lang="es-419"/>
              <a:t> Terigi (900641)</a:t>
            </a:r>
            <a:br>
              <a:rPr lang="es-419"/>
            </a:br>
            <a:r>
              <a:rPr lang="es-419"/>
              <a:t>                 Facundo Mobrici (899622)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         Diego Vivone (884158)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058950" y="1798550"/>
            <a:ext cx="72753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</a:rPr>
              <a:t>La inflación es un fenómeno macroeconómico complejo cuya dinámica puede depender tanto de factores reales (como el desempeño del mercado laboral o el crecimiento económico) como de factores nominales o institucionales.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este trabajo analizamos datos globales provenientes del World Bank para los años 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2011, 2016 y 2022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evaluar si existe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algún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tipo de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entre la  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inflación, el desempleo y el crecimiento del producto interno bruto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enfoque se vincula con la literatura de la 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Curva de Phillips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con las discusiones sobre la sensibilidad de la inflación al ciclo económico.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Hipótesis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941300" y="1344725"/>
            <a:ext cx="7342500" cy="31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Hipótesis principal (H1): </a:t>
            </a:r>
            <a:b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“La inflación está asociada al ciclo económico: mayores tasas de crecimiento del PBI y caídas en el desempleo se relacionan con mayores niveles de inflación.”</a:t>
            </a:r>
            <a:br>
              <a:rPr i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i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hipótesis describe </a:t>
            </a: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relación sistemática</a:t>
            </a: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pendiente positiva (+)	→ Aumento positivo del crecimiento del PBI se traduce en mayor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inflación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&lt; 0     pendiente negativa (-)    →   &lt; 0 (variación negativa del desempleo → menor desempleo → presión inflacionaria)</a:t>
            </a: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Hipótesis nula (H0):</a:t>
            </a:r>
            <a:br>
              <a:rPr b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s-419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“La inflación no está explicada por la variación del desempleo ni por el crecimiento del PBI.”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275" y="2470900"/>
            <a:ext cx="9906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275" y="3153900"/>
            <a:ext cx="6381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1427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Identificación de los datos (primera limpieza)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277450"/>
            <a:ext cx="70305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Primero se eliminaron columnas vacías para sacar el ruido de la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Se asignaron nuevos nombres para una interpretación más fácil de las variables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Se excluyeron datos de regiones generales (no países)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Se filtró para los años a analizar (2011,2016,2022)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0175"/>
            <a:ext cx="7193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Identificación</a:t>
            </a:r>
            <a:r>
              <a:rPr lang="es-419"/>
              <a:t> de los datos (primera limpieza)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3294750"/>
            <a:ext cx="7030500" cy="15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s-419" sz="1140"/>
              <a:t>Como vemos las variables que utilizaremos </a:t>
            </a:r>
            <a:r>
              <a:rPr lang="es-419" sz="1140"/>
              <a:t>serán</a:t>
            </a:r>
            <a:r>
              <a:rPr lang="es-419" sz="1140"/>
              <a:t>:</a:t>
            </a:r>
            <a:br>
              <a:rPr lang="es-419" sz="939"/>
            </a:br>
            <a:r>
              <a:rPr lang="es-419" sz="939"/>
              <a:t>país</a:t>
            </a:r>
            <a:r>
              <a:rPr lang="es-419" sz="939"/>
              <a:t> = </a:t>
            </a:r>
            <a:r>
              <a:rPr lang="es-419" sz="939"/>
              <a:t>Identificador</a:t>
            </a:r>
            <a:r>
              <a:rPr lang="es-419" sz="939"/>
              <a:t> del </a:t>
            </a:r>
            <a:r>
              <a:rPr lang="es-419" sz="939"/>
              <a:t>país</a:t>
            </a:r>
            <a:endParaRPr sz="93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s-419" sz="939"/>
              <a:t>anio = Año de </a:t>
            </a:r>
            <a:r>
              <a:rPr lang="es-419" sz="939"/>
              <a:t>observación</a:t>
            </a:r>
            <a:endParaRPr sz="93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s-419" sz="939"/>
              <a:t>inflación</a:t>
            </a:r>
            <a:r>
              <a:rPr lang="es-419" sz="939"/>
              <a:t> = Variación interanual del IPC (%)</a:t>
            </a:r>
            <a:endParaRPr sz="93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s-419" sz="939"/>
              <a:t>gdp = Tasa de </a:t>
            </a:r>
            <a:r>
              <a:rPr lang="es-419" sz="939"/>
              <a:t>crecimiento</a:t>
            </a:r>
            <a:r>
              <a:rPr lang="es-419" sz="939"/>
              <a:t> de PBI (%)</a:t>
            </a:r>
            <a:endParaRPr sz="93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s-419" sz="939"/>
              <a:t>desempleo = Variación interanual de la tasa de desempleo (</a:t>
            </a:r>
            <a:r>
              <a:rPr lang="es-419" sz="939"/>
              <a:t>elaboración</a:t>
            </a:r>
            <a:r>
              <a:rPr lang="es-419" sz="939"/>
              <a:t> propia con Tasa de desempleo total (%))</a:t>
            </a:r>
            <a:endParaRPr sz="93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939"/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500" y="1269350"/>
            <a:ext cx="4765001" cy="19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5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Estadísticas</a:t>
            </a:r>
            <a:r>
              <a:rPr lang="es-419"/>
              <a:t> descriptivas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3748375"/>
            <a:ext cx="70305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 calculan </a:t>
            </a:r>
            <a:r>
              <a:rPr lang="es-419"/>
              <a:t>las</a:t>
            </a:r>
            <a:r>
              <a:rPr lang="es-419"/>
              <a:t> </a:t>
            </a:r>
            <a:r>
              <a:rPr lang="es-419"/>
              <a:t>estadísticas</a:t>
            </a:r>
            <a:r>
              <a:rPr lang="es-419"/>
              <a:t> media,mediana, </a:t>
            </a:r>
            <a:r>
              <a:rPr lang="es-419"/>
              <a:t>desvío</a:t>
            </a:r>
            <a:r>
              <a:rPr lang="es-419"/>
              <a:t> </a:t>
            </a:r>
            <a:r>
              <a:rPr lang="es-419"/>
              <a:t>estándar</a:t>
            </a:r>
            <a:r>
              <a:rPr lang="es-419"/>
              <a:t> (sd), valor minimo (min), valor </a:t>
            </a:r>
            <a:r>
              <a:rPr lang="es-419"/>
              <a:t>máximo</a:t>
            </a:r>
            <a:r>
              <a:rPr lang="es-419"/>
              <a:t>(max), primer cuartil(q25%), tercer cuartil(75%) de nuestras 3 variables  a analizar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18" title="Screenshot 2025-12-05 1544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900" y="1168275"/>
            <a:ext cx="6904975" cy="25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405275"/>
            <a:ext cx="7030500" cy="5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Estadísticas descriptivas</a:t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1303800" y="874125"/>
            <a:ext cx="61341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s-419" sz="1212"/>
              <a:t>Histograma</a:t>
            </a:r>
            <a:endParaRPr sz="1212"/>
          </a:p>
        </p:txBody>
      </p:sp>
      <p:pic>
        <p:nvPicPr>
          <p:cNvPr id="319" name="Google Shape;3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225" y="1280600"/>
            <a:ext cx="7821177" cy="36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211350" y="262400"/>
            <a:ext cx="70305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Outliers y </a:t>
            </a:r>
            <a:r>
              <a:rPr lang="es-419"/>
              <a:t>cuantificación</a:t>
            </a:r>
            <a:endParaRPr/>
          </a:p>
        </p:txBody>
      </p:sp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1303800" y="983325"/>
            <a:ext cx="7030500" cy="3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 </a:t>
            </a:r>
            <a:r>
              <a:rPr lang="es-419"/>
              <a:t>utilizó</a:t>
            </a:r>
            <a:r>
              <a:rPr lang="es-419"/>
              <a:t> el </a:t>
            </a:r>
            <a:r>
              <a:rPr lang="es-419"/>
              <a:t>método</a:t>
            </a:r>
            <a:r>
              <a:rPr lang="es-419"/>
              <a:t> IQR para detectar valores </a:t>
            </a:r>
            <a:r>
              <a:rPr lang="es-419"/>
              <a:t>atípicos</a:t>
            </a:r>
            <a:r>
              <a:rPr lang="es-419"/>
              <a:t> que </a:t>
            </a:r>
            <a:r>
              <a:rPr lang="es-419"/>
              <a:t>podrían</a:t>
            </a:r>
            <a:r>
              <a:rPr lang="es-419"/>
              <a:t> entorpecer el </a:t>
            </a:r>
            <a:r>
              <a:rPr lang="es-419"/>
              <a:t>análisis y se procedió a la eliminación de los mismos.</a:t>
            </a:r>
            <a:br>
              <a:rPr lang="es-419"/>
            </a:br>
            <a:br>
              <a:rPr lang="es-419"/>
            </a:br>
            <a:r>
              <a:rPr lang="es-419"/>
              <a:t>Los valores encontrados fueron: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Outliers_inflacion </a:t>
            </a:r>
            <a:r>
              <a:rPr b="1" lang="es-419"/>
              <a:t>43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Outliers_desempleo </a:t>
            </a:r>
            <a:r>
              <a:rPr b="1" lang="es-419"/>
              <a:t>20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Outliers_gdp </a:t>
            </a:r>
            <a:r>
              <a:rPr b="1" lang="es-419"/>
              <a:t>46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200"/>
              <a:t>Luego, se calculó un resumen de</a:t>
            </a:r>
            <a:r>
              <a:rPr b="1" lang="es-419" sz="1200"/>
              <a:t> valores faltantes</a:t>
            </a:r>
            <a:r>
              <a:rPr lang="es-419" sz="1200"/>
              <a:t> por variable. Este análisis identifica cuántos datos faltan en cada columna y el porcentaje que representan. Luego se filtraron únicamente las variables con valores faltantes para focalizar la imputación solo donde es necesaria.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186125" y="161550"/>
            <a:ext cx="7030500" cy="5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Outliers y cuantificación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113" y="1036000"/>
            <a:ext cx="7084525" cy="34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1303800" y="220375"/>
            <a:ext cx="70305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Outliers y cuantificación</a:t>
            </a:r>
            <a:endParaRPr/>
          </a:p>
        </p:txBody>
      </p:sp>
      <p:pic>
        <p:nvPicPr>
          <p:cNvPr id="337" name="Google Shape;3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825" y="883625"/>
            <a:ext cx="7540424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1303800" y="237200"/>
            <a:ext cx="70305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Outliers y cuantificación</a:t>
            </a:r>
            <a:endParaRPr/>
          </a:p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1303800" y="832100"/>
            <a:ext cx="70305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Para la variable GDP el porcentaje de faltantes es menor al 5% por lo que se hace imputación simple con la media muestral.</a:t>
            </a:r>
            <a:endParaRPr/>
          </a:p>
        </p:txBody>
      </p:sp>
      <p:sp>
        <p:nvSpPr>
          <p:cNvPr id="344" name="Google Shape;344;p23"/>
          <p:cNvSpPr txBox="1"/>
          <p:nvPr>
            <p:ph idx="1" type="body"/>
          </p:nvPr>
        </p:nvSpPr>
        <p:spPr>
          <a:xfrm>
            <a:off x="1303800" y="1927525"/>
            <a:ext cx="7030500" cy="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Para las variables inflación y desempleo se realizó un test de Little para evaluar si los datos faltantes siguen un mecanismo MCAR (Missing Completely At Random)</a:t>
            </a:r>
            <a:endParaRPr/>
          </a:p>
        </p:txBody>
      </p:sp>
      <p:pic>
        <p:nvPicPr>
          <p:cNvPr id="345" name="Google Shape;3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450" y="2709025"/>
            <a:ext cx="647700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"/>
          <p:cNvSpPr txBox="1"/>
          <p:nvPr>
            <p:ph type="title"/>
          </p:nvPr>
        </p:nvSpPr>
        <p:spPr>
          <a:xfrm>
            <a:off x="1303800" y="412575"/>
            <a:ext cx="70305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Outliers y cuantificación</a:t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1259700" y="1116000"/>
            <a:ext cx="7118700" cy="21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 resultado arrojó un estadístico de 12.67 con 2 grados de libertad y un valor-p de 0.0017, lo cual implica rechazar la hipótesis nula de que los datos faltan completamente al azar (MCAR). Esto sugiere que el patrón de faltantes no es completamente aleatorio y que los valores ausentes están relacionados con otras variables del conjunto de datos.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Dado que MCAR queda descartado, se procede a utilizar imputación múltiple mediante el método MICE, que es adecuado bajo el supuesto de datos faltantes MAR (Missing At Random).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 txBox="1"/>
          <p:nvPr>
            <p:ph type="title"/>
          </p:nvPr>
        </p:nvSpPr>
        <p:spPr>
          <a:xfrm>
            <a:off x="1303800" y="598575"/>
            <a:ext cx="70305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Evaluacion de Limpieza</a:t>
            </a:r>
            <a:endParaRPr/>
          </a:p>
        </p:txBody>
      </p:sp>
      <p:sp>
        <p:nvSpPr>
          <p:cNvPr id="357" name="Google Shape;357;p25"/>
          <p:cNvSpPr txBox="1"/>
          <p:nvPr>
            <p:ph idx="1" type="body"/>
          </p:nvPr>
        </p:nvSpPr>
        <p:spPr>
          <a:xfrm>
            <a:off x="1303800" y="1277475"/>
            <a:ext cx="7030500" cy="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</a:t>
            </a:r>
            <a:r>
              <a:rPr lang="es-419"/>
              <a:t>calculó</a:t>
            </a:r>
            <a:r>
              <a:rPr lang="es-419"/>
              <a:t> las </a:t>
            </a:r>
            <a:r>
              <a:rPr lang="es-419"/>
              <a:t>estadísticas</a:t>
            </a:r>
            <a:r>
              <a:rPr lang="es-419"/>
              <a:t> antes y </a:t>
            </a:r>
            <a:r>
              <a:rPr lang="es-419"/>
              <a:t>después</a:t>
            </a:r>
            <a:r>
              <a:rPr lang="es-419"/>
              <a:t>. Y se </a:t>
            </a:r>
            <a:r>
              <a:rPr lang="es-419"/>
              <a:t>unió</a:t>
            </a:r>
            <a:r>
              <a:rPr lang="es-419"/>
              <a:t> a una tabla </a:t>
            </a:r>
            <a:r>
              <a:rPr lang="es-419"/>
              <a:t>para</a:t>
            </a:r>
            <a:r>
              <a:rPr lang="es-419"/>
              <a:t> su </a:t>
            </a:r>
            <a:r>
              <a:rPr lang="es-419"/>
              <a:t>fácil</a:t>
            </a:r>
            <a:r>
              <a:rPr lang="es-419"/>
              <a:t> </a:t>
            </a:r>
            <a:r>
              <a:rPr lang="es-419"/>
              <a:t>interpretación</a:t>
            </a:r>
            <a:endParaRPr/>
          </a:p>
        </p:txBody>
      </p:sp>
      <p:pic>
        <p:nvPicPr>
          <p:cNvPr id="358" name="Google Shape;3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425" y="1874175"/>
            <a:ext cx="682325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5"/>
          <p:cNvSpPr txBox="1"/>
          <p:nvPr/>
        </p:nvSpPr>
        <p:spPr>
          <a:xfrm>
            <a:off x="1369925" y="3773575"/>
            <a:ext cx="67152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 </a:t>
            </a: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puede</a:t>
            </a: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apreciar que baja el promedio y se reduce al dispercion, </a:t>
            </a: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estabilizandose</a:t>
            </a: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la </a:t>
            </a:r>
            <a:r>
              <a:rPr lang="es-419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distribución. Al igual que baja la variabilidad y un poco la media, pero no se mete ruido adicional a los datos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25"/>
          <p:cNvSpPr txBox="1"/>
          <p:nvPr/>
        </p:nvSpPr>
        <p:spPr>
          <a:xfrm>
            <a:off x="6387375" y="3484375"/>
            <a:ext cx="21684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 : cantidad de observaciones </a:t>
            </a:r>
            <a:r>
              <a:rPr lang="es-419"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válidas</a:t>
            </a:r>
            <a:endParaRPr sz="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 txBox="1"/>
          <p:nvPr>
            <p:ph type="title"/>
          </p:nvPr>
        </p:nvSpPr>
        <p:spPr>
          <a:xfrm>
            <a:off x="1303800" y="178350"/>
            <a:ext cx="7030500" cy="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Regresiones año 2011</a:t>
            </a:r>
            <a:endParaRPr sz="3500"/>
          </a:p>
        </p:txBody>
      </p:sp>
      <p:pic>
        <p:nvPicPr>
          <p:cNvPr id="366" name="Google Shape;3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325" y="727625"/>
            <a:ext cx="5229350" cy="23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328" y="3115825"/>
            <a:ext cx="4813896" cy="18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/>
          <p:cNvSpPr txBox="1"/>
          <p:nvPr/>
        </p:nvSpPr>
        <p:spPr>
          <a:xfrm>
            <a:off x="7606000" y="1739700"/>
            <a:ext cx="1235400" cy="7647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Antes de realizar las regresiones se </a:t>
            </a:r>
            <a:r>
              <a:rPr lang="es-419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descartó</a:t>
            </a:r>
            <a:r>
              <a:rPr lang="es-419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multicolinealidad.</a:t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/>
          <p:nvPr>
            <p:ph type="title"/>
          </p:nvPr>
        </p:nvSpPr>
        <p:spPr>
          <a:xfrm>
            <a:off x="1303800" y="169975"/>
            <a:ext cx="7030500" cy="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Regresiones año 2016</a:t>
            </a:r>
            <a:endParaRPr sz="2720"/>
          </a:p>
        </p:txBody>
      </p:sp>
      <p:pic>
        <p:nvPicPr>
          <p:cNvPr id="374" name="Google Shape;3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724" y="739600"/>
            <a:ext cx="5223824" cy="23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3650" y="3216025"/>
            <a:ext cx="4509980" cy="17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"/>
          <p:cNvSpPr txBox="1"/>
          <p:nvPr>
            <p:ph type="title"/>
          </p:nvPr>
        </p:nvSpPr>
        <p:spPr>
          <a:xfrm>
            <a:off x="1286325" y="161425"/>
            <a:ext cx="7030500" cy="3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Regresiones año 2022</a:t>
            </a:r>
            <a:endParaRPr sz="2720"/>
          </a:p>
        </p:txBody>
      </p:sp>
      <p:pic>
        <p:nvPicPr>
          <p:cNvPr id="381" name="Google Shape;3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450" y="790025"/>
            <a:ext cx="5227324" cy="23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501" y="3172250"/>
            <a:ext cx="4395281" cy="17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 txBox="1"/>
          <p:nvPr>
            <p:ph type="title"/>
          </p:nvPr>
        </p:nvSpPr>
        <p:spPr>
          <a:xfrm>
            <a:off x="1303800" y="414050"/>
            <a:ext cx="7030500" cy="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388" name="Google Shape;388;p29"/>
          <p:cNvSpPr txBox="1"/>
          <p:nvPr>
            <p:ph idx="1" type="body"/>
          </p:nvPr>
        </p:nvSpPr>
        <p:spPr>
          <a:xfrm>
            <a:off x="1303800" y="1266400"/>
            <a:ext cx="7030500" cy="3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La relación entre inflación, crecimiento y desempleo no es uniforme a nivel global.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200"/>
              <a:t>Solo en 2011 el crecimiento del PBI explica inflación, mientras que en 2016 y 2022 no existe relación estadísticamente significativa.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/>
              <a:t>El desempleo no impacta la inflación en ningún año.</a:t>
            </a:r>
            <a:r>
              <a:rPr lang="es-419" sz="1200"/>
              <a:t> </a:t>
            </a:r>
            <a:r>
              <a:rPr lang="es-419" sz="1200"/>
              <a:t>No se</a:t>
            </a:r>
            <a:r>
              <a:rPr lang="es-419" sz="1200"/>
              <a:t> puede evidenciar </a:t>
            </a:r>
            <a:r>
              <a:rPr lang="es-419" sz="1200"/>
              <a:t>una</a:t>
            </a:r>
            <a:r>
              <a:rPr lang="es-419" sz="1200"/>
              <a:t> </a:t>
            </a:r>
            <a:r>
              <a:rPr lang="es-419" sz="1200"/>
              <a:t>relación</a:t>
            </a:r>
            <a:r>
              <a:rPr lang="es-419" sz="1200"/>
              <a:t> negativa </a:t>
            </a:r>
            <a:r>
              <a:rPr lang="es-419" sz="1200"/>
              <a:t>significativa</a:t>
            </a:r>
            <a:r>
              <a:rPr lang="es-419" sz="1200"/>
              <a:t> rompiendo con la curva de P</a:t>
            </a:r>
            <a:r>
              <a:rPr lang="es-419" sz="1200"/>
              <a:t>hillips (pareciera estar más en concordancia con la teoría de Friedman y la versión moderna de una curva de Phillips)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200"/>
              <a:t>Esto evidencia que la inflación depende de factores estructurales y de políticas económicas, no únicamente del ciclo económico.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s-419"/>
            </a:br>
            <a:r>
              <a:rPr b="1" lang="es-419" u="sng"/>
              <a:t>Principales hallazgos: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La </a:t>
            </a:r>
            <a:r>
              <a:rPr lang="es-419"/>
              <a:t>inflación</a:t>
            </a:r>
            <a:r>
              <a:rPr lang="es-419"/>
              <a:t> aumenta notablemente en 2022 (post-pandemia)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El desempleo se mantiene entre  7-9% </a:t>
            </a:r>
            <a:r>
              <a:rPr lang="es-419"/>
              <a:t>según</a:t>
            </a:r>
            <a:r>
              <a:rPr lang="es-419"/>
              <a:t> el año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>
            <p:ph type="title"/>
          </p:nvPr>
        </p:nvSpPr>
        <p:spPr>
          <a:xfrm>
            <a:off x="750250" y="182475"/>
            <a:ext cx="7030500" cy="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pic>
        <p:nvPicPr>
          <p:cNvPr id="394" name="Google Shape;3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50" y="705375"/>
            <a:ext cx="8219699" cy="43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 txBox="1"/>
          <p:nvPr/>
        </p:nvSpPr>
        <p:spPr>
          <a:xfrm>
            <a:off x="5827225" y="182475"/>
            <a:ext cx="30909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 escala global, el desempleo ha mostrado una tendencia suavemente</a:t>
            </a:r>
            <a:r>
              <a:rPr lang="es-419" sz="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-419" sz="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decreciente con menor volatilidad, mientras que la inflación presenta ciclos claros asociados a shocks internacionales (2008 y post-pandemia)</a:t>
            </a:r>
            <a:endParaRPr sz="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